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11064240" cy="5394960"/>
          </a:xfrm>
          <a:prstGeom prst="rect">
            <a:avLst/>
          </a:prstGeom>
          <a:solidFill>
            <a:srgbClr val="232323"/>
          </a:solidFill>
          <a:ln>
            <a:solidFill>
              <a:srgbClr val="37A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5F5F5"/>
                </a:solidFill>
                <a:latin typeface="Aptos Display"/>
              </a:defRPr>
            </a:pPr>
            <a:r>
              <a:t>STUDENT PERFORMANCE</a:t>
            </a:r>
            <a:br/>
            <a:r>
              <a:t>ANALYSIS DASHBOARD</a:t>
            </a:r>
          </a:p>
          <a:p>
            <a:pPr algn="ctr">
              <a:defRPr sz="2100">
                <a:solidFill>
                  <a:srgbClr val="37A0F5"/>
                </a:solidFill>
                <a:latin typeface="Aptos"/>
              </a:defRPr>
            </a:pPr>
            <a:r>
              <a:t>Power BI Project Presentation</a:t>
            </a:r>
          </a:p>
          <a:p>
            <a:pPr algn="ctr">
              <a:defRPr sz="1500">
                <a:solidFill>
                  <a:srgbClr val="F5F5F5"/>
                </a:solidFill>
              </a:defRPr>
            </a:pPr>
            <a:r>
              <a:t>Dashboard Screenshots • Insights • Performance Factors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65960" y="4617720"/>
            <a:ext cx="8275320" cy="1234440"/>
          </a:xfrm>
          <a:prstGeom prst="roundRect">
            <a:avLst/>
          </a:prstGeom>
          <a:solidFill>
            <a:srgbClr val="232323"/>
          </a:solidFill>
          <a:ln>
            <a:solidFill>
              <a:srgbClr val="37A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73152" bIns="73152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Presented by: Ronak Patel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CDCDCD"/>
                </a:solidFill>
                <a:latin typeface="Aptos"/>
              </a:defRPr>
            </a:pPr>
            <a:r>
              <a:t>Enrollment No.: 250393107011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37A0F5"/>
                </a:solidFill>
                <a:latin typeface="Aptos"/>
              </a:defRPr>
            </a:pPr>
            <a:r>
              <a:t>S.P.B. Patel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Aptos Display"/>
              </a:defRPr>
            </a:pPr>
            <a:r>
              <a:t>Dashboard Page 1 — Student Performance Overview</a:t>
            </a:r>
          </a:p>
        </p:txBody>
      </p:sp>
      <p:pic>
        <p:nvPicPr>
          <p:cNvPr id="3" name="Picture 2" descr="Screenshot 2026-10-09 1212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83" y="658368"/>
            <a:ext cx="10206928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996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  <a:latin typeface="Aptos"/>
              </a:defRPr>
            </a:pPr>
            <a:r>
              <a:t>Overview of student count, absences, grades, study time, failures, internet access and student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CDCD"/>
                </a:solidFill>
                <a:latin typeface="Aptos"/>
              </a:defRPr>
            </a:pPr>
            <a:r>
              <a:t>Ronak Patel  |  Enrollment No. 250393107011  |  S.P.B. Patel Engineering College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Aptos Display"/>
              </a:defRPr>
            </a:pPr>
            <a:r>
              <a:t>Dashboard Page 2 — Performance Summary</a:t>
            </a:r>
          </a:p>
        </p:txBody>
      </p:sp>
      <p:pic>
        <p:nvPicPr>
          <p:cNvPr id="3" name="Picture 2" descr="Screenshot 2026-10-09 121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88" y="658368"/>
            <a:ext cx="10136917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996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  <a:latin typeface="Aptos"/>
              </a:defRPr>
            </a:pPr>
            <a:r>
              <a:t>Summary of G1, G2 and G3 grades with age, sex, school and study-time filters.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CDCD"/>
                </a:solidFill>
                <a:latin typeface="Aptos"/>
              </a:defRPr>
            </a:pPr>
            <a:r>
              <a:t>Ronak Patel  |  Enrollment No. 250393107011  |  S.P.B. Patel Engineering College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Aptos Display"/>
              </a:defRPr>
            </a:pPr>
            <a:r>
              <a:t>Dashboard Page 3 — Insights &amp; Factors</a:t>
            </a:r>
          </a:p>
        </p:txBody>
      </p:sp>
      <p:pic>
        <p:nvPicPr>
          <p:cNvPr id="3" name="Picture 2" descr="Screenshot 2026-10-09 121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16" y="658368"/>
            <a:ext cx="10210862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996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  <a:latin typeface="Aptos"/>
              </a:defRPr>
            </a:pPr>
            <a:r>
              <a:t>Insights into grade patterns by absences, study time, education and internet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CDCD"/>
                </a:solidFill>
                <a:latin typeface="Aptos"/>
              </a:defRPr>
            </a:pPr>
            <a:r>
              <a:t>Ronak Patel  |  Enrollment No. 250393107011  |  S.P.B. Patel Engineering College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D2E6"/>
                </a:solidFill>
                <a:latin typeface="Aptos"/>
              </a:defRPr>
            </a:pPr>
            <a:r>
              <a:t>Why analyze student performance?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4480560"/>
          </a:xfrm>
          <a:prstGeom prst="roundRect">
            <a:avLst/>
          </a:prstGeom>
          <a:solidFill>
            <a:srgbClr val="262626"/>
          </a:solidFill>
          <a:ln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228600" bIns="182880"/>
          <a:lstStyle/>
          <a:p>
            <a:pPr algn="ctr">
              <a:spcAft>
                <a:spcPts val="18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Student results can vary due to attendance, study time, past grades and other factors.</a:t>
            </a:r>
          </a:p>
          <a:p>
            <a:pPr>
              <a:spcAft>
                <a:spcPts val="18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Raw tables make it difficult to identify trends quickly.</a:t>
            </a:r>
          </a:p>
          <a:p>
            <a:pPr>
              <a:spcAft>
                <a:spcPts val="18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A Power BI dashboard converts student records into interactive visual summaries.</a:t>
            </a:r>
          </a:p>
          <a:p>
            <a:pPr>
              <a:spcAft>
                <a:spcPts val="18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The project aims to support clearer, data-informed academic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C3C3"/>
                </a:solidFill>
                <a:latin typeface="Aptos"/>
              </a:defRPr>
            </a:pPr>
            <a:r>
              <a:t>STUDENT PERFORMANCE ANALYSIS  |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CDCD"/>
                </a:solidFill>
                <a:latin typeface="Aptos"/>
              </a:defRPr>
            </a:pPr>
            <a:r>
              <a:t>Ronak Patel  |  Enrollment No. 250393107011  |  S.P.B. Patel Engineering College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D2E6"/>
                </a:solidFill>
                <a:latin typeface="Aptos"/>
              </a:defRPr>
            </a:pPr>
            <a:r>
              <a:t>What this dashboard is designed to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4480560"/>
          </a:xfrm>
          <a:prstGeom prst="roundRect">
            <a:avLst/>
          </a:prstGeom>
          <a:solidFill>
            <a:srgbClr val="262626"/>
          </a:solidFill>
          <a:ln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228600" bIns="182880"/>
          <a:lstStyle/>
          <a:p>
            <a:pPr algn="ctr">
              <a:spcAft>
                <a:spcPts val="18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Summarize student performance using grade fields such as G1, G2 and G3.</a:t>
            </a:r>
          </a:p>
          <a:p>
            <a:pPr>
              <a:spcAft>
                <a:spcPts val="18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Compare outcomes by study time, absences, sex, school and internet access.</a:t>
            </a:r>
          </a:p>
          <a:p>
            <a:pPr>
              <a:spcAft>
                <a:spcPts val="18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Provide filters so users can explore selected student groups.</a:t>
            </a:r>
          </a:p>
          <a:p>
            <a:pPr>
              <a:spcAft>
                <a:spcPts val="18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Present key information through cards, bar charts, line charts and a donut chart.</a:t>
            </a:r>
          </a:p>
          <a:p>
            <a:pPr>
              <a:spcAft>
                <a:spcPts val="18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Make the dashboard easier to explain during a project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C3C3"/>
                </a:solidFill>
                <a:latin typeface="Aptos"/>
              </a:defRPr>
            </a:pPr>
            <a:r>
              <a:t>STUDENT PERFORMANCE ANALYSIS  |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CDCD"/>
                </a:solidFill>
                <a:latin typeface="Aptos"/>
              </a:defRPr>
            </a:pPr>
            <a:r>
              <a:t>Ronak Patel  |  Enrollment No. 250393107011  |  S.P.B. Patel Engineering College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D2E6"/>
                </a:solidFill>
                <a:latin typeface="Aptos"/>
              </a:defRPr>
            </a:pPr>
            <a:r>
              <a:t>Main fields used in the student performance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49240" cy="987552"/>
          </a:xfrm>
          <a:prstGeom prst="roundRect">
            <a:avLst/>
          </a:prstGeom>
          <a:solidFill>
            <a:srgbClr val="262626"/>
          </a:solidFill>
          <a:ln>
            <a:solidFill>
              <a:srgbClr val="37A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G1, G2, G3</a:t>
            </a:r>
          </a:p>
          <a:p>
            <a:pPr>
              <a:defRPr sz="1200">
                <a:solidFill>
                  <a:srgbClr val="C3C3C3"/>
                </a:solidFill>
                <a:latin typeface="Aptos"/>
              </a:defRPr>
            </a:pPr>
            <a:r>
              <a:t>Grades / performance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08760"/>
            <a:ext cx="5349240" cy="987552"/>
          </a:xfrm>
          <a:prstGeom prst="roundRect">
            <a:avLst/>
          </a:prstGeom>
          <a:solidFill>
            <a:srgbClr val="262626"/>
          </a:solidFill>
          <a:ln>
            <a:solidFill>
              <a:srgbClr val="3C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absences</a:t>
            </a:r>
          </a:p>
          <a:p>
            <a:pPr>
              <a:defRPr sz="1200">
                <a:solidFill>
                  <a:srgbClr val="C3C3C3"/>
                </a:solidFill>
                <a:latin typeface="Aptos"/>
              </a:defRPr>
            </a:pPr>
            <a:r>
              <a:t>Number of absences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5349240" cy="987552"/>
          </a:xfrm>
          <a:prstGeom prst="roundRect">
            <a:avLst/>
          </a:prstGeom>
          <a:solidFill>
            <a:srgbClr val="262626"/>
          </a:solidFill>
          <a:ln>
            <a:solidFill>
              <a:srgbClr val="37A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studytime</a:t>
            </a:r>
          </a:p>
          <a:p>
            <a:pPr>
              <a:defRPr sz="1200">
                <a:solidFill>
                  <a:srgbClr val="C3C3C3"/>
                </a:solidFill>
                <a:latin typeface="Aptos"/>
              </a:defRPr>
            </a:pPr>
            <a:r>
              <a:t>Study-time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679191"/>
            <a:ext cx="5349240" cy="987552"/>
          </a:xfrm>
          <a:prstGeom prst="roundRect">
            <a:avLst/>
          </a:prstGeom>
          <a:solidFill>
            <a:srgbClr val="262626"/>
          </a:solidFill>
          <a:ln>
            <a:solidFill>
              <a:srgbClr val="3C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failures</a:t>
            </a:r>
          </a:p>
          <a:p>
            <a:pPr>
              <a:defRPr sz="1200">
                <a:solidFill>
                  <a:srgbClr val="C3C3C3"/>
                </a:solidFill>
                <a:latin typeface="Aptos"/>
              </a:defRPr>
            </a:pPr>
            <a:r>
              <a:t>Past class failures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9624"/>
            <a:ext cx="5349240" cy="987552"/>
          </a:xfrm>
          <a:prstGeom prst="roundRect">
            <a:avLst/>
          </a:prstGeom>
          <a:solidFill>
            <a:srgbClr val="262626"/>
          </a:solidFill>
          <a:ln>
            <a:solidFill>
              <a:srgbClr val="37A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sex, school</a:t>
            </a:r>
          </a:p>
          <a:p>
            <a:pPr>
              <a:defRPr sz="1200">
                <a:solidFill>
                  <a:srgbClr val="C3C3C3"/>
                </a:solidFill>
                <a:latin typeface="Aptos"/>
              </a:defRPr>
            </a:pPr>
            <a:r>
              <a:t>Student and school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9624"/>
            <a:ext cx="5349240" cy="987552"/>
          </a:xfrm>
          <a:prstGeom prst="roundRect">
            <a:avLst/>
          </a:prstGeom>
          <a:solidFill>
            <a:srgbClr val="262626"/>
          </a:solidFill>
          <a:ln>
            <a:solidFill>
              <a:srgbClr val="3C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internet</a:t>
            </a:r>
          </a:p>
          <a:p>
            <a:pPr>
              <a:defRPr sz="1200">
                <a:solidFill>
                  <a:srgbClr val="C3C3C3"/>
                </a:solidFill>
                <a:latin typeface="Aptos"/>
              </a:defRPr>
            </a:pPr>
            <a:r>
              <a:t>Internet access at home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0056"/>
            <a:ext cx="5349240" cy="987552"/>
          </a:xfrm>
          <a:prstGeom prst="roundRect">
            <a:avLst/>
          </a:prstGeom>
          <a:solidFill>
            <a:srgbClr val="262626"/>
          </a:solidFill>
          <a:ln>
            <a:solidFill>
              <a:srgbClr val="37A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age</a:t>
            </a:r>
          </a:p>
          <a:p>
            <a:pPr>
              <a:defRPr sz="1200">
                <a:solidFill>
                  <a:srgbClr val="C3C3C3"/>
                </a:solidFill>
                <a:latin typeface="Aptos"/>
              </a:defRPr>
            </a:pPr>
            <a:r>
              <a:t>Student 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C3C3"/>
                </a:solidFill>
                <a:latin typeface="Aptos"/>
              </a:defRPr>
            </a:pPr>
            <a:r>
              <a:t>STUDENT PERFORMANCE ANALYSIS  | 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CDCD"/>
                </a:solidFill>
                <a:latin typeface="Aptos"/>
              </a:defRPr>
            </a:pPr>
            <a:r>
              <a:t>Ronak Patel  |  Enrollment No. 250393107011  |  S.P.B. Patel Engineering College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  <a:latin typeface="Aptos Display"/>
              </a:defRPr>
            </a:pPr>
            <a:r>
              <a:t>Dashboard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D2E6"/>
                </a:solidFill>
                <a:latin typeface="Aptos"/>
              </a:defRPr>
            </a:pPr>
            <a:r>
              <a:t>How the visuals help explain the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749808"/>
          </a:xfrm>
          <a:prstGeom prst="roundRect">
            <a:avLst/>
          </a:prstGeom>
          <a:solidFill>
            <a:srgbClr val="262626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CD2E6"/>
                </a:solidFill>
              </a:defRPr>
            </a:pPr>
            <a:r>
              <a:t>KPI Cards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Show summary values such as student count or total grades.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44200" cy="749808"/>
          </a:xfrm>
          <a:prstGeom prst="roundRect">
            <a:avLst/>
          </a:prstGeom>
          <a:solidFill>
            <a:srgbClr val="262626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CD2E6"/>
                </a:solidFill>
              </a:defRPr>
            </a:pPr>
            <a:r>
              <a:t>Bar Charts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Compare grades and other measures across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10744200" cy="749808"/>
          </a:xfrm>
          <a:prstGeom prst="roundRect">
            <a:avLst/>
          </a:prstGeom>
          <a:solidFill>
            <a:srgbClr val="262626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CD2E6"/>
                </a:solidFill>
              </a:defRPr>
            </a:pPr>
            <a:r>
              <a:t>Line / Scatter Charts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Explore relationships and patterns between measures.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744200" cy="749808"/>
          </a:xfrm>
          <a:prstGeom prst="roundRect">
            <a:avLst/>
          </a:prstGeom>
          <a:solidFill>
            <a:srgbClr val="262626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CD2E6"/>
                </a:solidFill>
              </a:defRPr>
            </a:pPr>
            <a:r>
              <a:t>Donut Chart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Show the split between categories such as internet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10744200" cy="749808"/>
          </a:xfrm>
          <a:prstGeom prst="roundRect">
            <a:avLst/>
          </a:prstGeom>
          <a:solidFill>
            <a:srgbClr val="262626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CD2E6"/>
                </a:solidFill>
              </a:defRPr>
            </a:pPr>
            <a:r>
              <a:t>Slicers &amp; Filters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Narrow the analysis by school, sex, age or study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C3C3"/>
                </a:solidFill>
                <a:latin typeface="Aptos"/>
              </a:defRPr>
            </a:pPr>
            <a:r>
              <a:t>STUDENT PERFORMANCE ANALYSIS  |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CDCD"/>
                </a:solidFill>
                <a:latin typeface="Aptos"/>
              </a:defRPr>
            </a:pPr>
            <a:r>
              <a:t>Ronak Patel  |  Enrollment No. 250393107011  |  S.P.B. Patel Engineering College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  <a:latin typeface="Aptos Display"/>
              </a:defRPr>
            </a:pPr>
            <a:r>
              <a:t>Key Insights to 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D2E6"/>
                </a:solidFill>
                <a:latin typeface="Aptos"/>
              </a:defRPr>
            </a:pPr>
            <a:r>
              <a:t>Use the charts to explore possible patterns—not to assume causation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4480560"/>
          </a:xfrm>
          <a:prstGeom prst="roundRect">
            <a:avLst/>
          </a:prstGeom>
          <a:solidFill>
            <a:srgbClr val="262626"/>
          </a:solidFill>
          <a:ln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228600" bIns="182880"/>
          <a:lstStyle/>
          <a:p>
            <a:pPr algn="ctr"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Compare G1, G2 and G3 to see how performance changes across grading periods.</a:t>
            </a:r>
          </a:p>
          <a:p>
            <a:pPr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Check whether higher study-time categories show different average G3 values.</a:t>
            </a:r>
          </a:p>
          <a:p>
            <a:pPr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Explore how absences and previous failures relate to final grades.</a:t>
            </a:r>
          </a:p>
          <a:p>
            <a:pPr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Use school, sex and internet-access filters to compare groups fairly.</a:t>
            </a:r>
          </a:p>
          <a:p>
            <a:pPr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Validate findings against the underlying dataset before making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C3C3"/>
                </a:solidFill>
                <a:latin typeface="Aptos"/>
              </a:defRPr>
            </a:pPr>
            <a:r>
              <a:t>STUDENT PERFORMANCE ANALYSIS  |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CDCD"/>
                </a:solidFill>
                <a:latin typeface="Aptos"/>
              </a:defRPr>
            </a:pPr>
            <a:r>
              <a:t>Ronak Patel  |  Enrollment No. 250393107011  |  S.P.B. Patel Engineering College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  <a:latin typeface="Aptos Display"/>
              </a:defRPr>
            </a:pPr>
            <a:r>
              <a:t>Recommendations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D2E6"/>
                </a:solidFill>
                <a:latin typeface="Aptos"/>
              </a:defRPr>
            </a:pPr>
            <a:r>
              <a:t>Turning dashboard observations into practical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4480560"/>
          </a:xfrm>
          <a:prstGeom prst="roundRect">
            <a:avLst/>
          </a:prstGeom>
          <a:solidFill>
            <a:srgbClr val="262626"/>
          </a:solidFill>
          <a:ln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228600" bIns="182880"/>
          <a:lstStyle/>
          <a:p>
            <a:pPr algn="ctr"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Identify students who may need support using grades, attendance and failure history together.</a:t>
            </a:r>
          </a:p>
          <a:p>
            <a:pPr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Encourage consistent study routines and regular attendance.</a:t>
            </a:r>
          </a:p>
          <a:p>
            <a:pPr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Use filters to investigate groups, then verify the results with teachers or academic staff.</a:t>
            </a:r>
          </a:p>
          <a:p>
            <a:pPr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Keep the dataset clean and update it regularly so the dashboard remains useful.</a:t>
            </a:r>
          </a:p>
          <a:p>
            <a:pPr>
              <a:spcAft>
                <a:spcPts val="18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Conclusion: Power BI makes student data easier to explore, compare and communicate.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C3C3"/>
                </a:solidFill>
                <a:latin typeface="Aptos"/>
              </a:defRPr>
            </a:pPr>
            <a:r>
              <a:t>STUDENT PERFORMANCE ANALYSIS  |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DCDCD"/>
                </a:solidFill>
                <a:latin typeface="Aptos"/>
              </a:defRPr>
            </a:pPr>
            <a:r>
              <a:t>Ronak Patel  |  Enrollment No. 250393107011  |  S.P.B. Patel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